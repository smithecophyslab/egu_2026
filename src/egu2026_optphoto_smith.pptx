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6" r:id="rId3"/>
    <p:sldId id="307" r:id="rId4"/>
    <p:sldId id="311" r:id="rId5"/>
    <p:sldId id="312" r:id="rId6"/>
    <p:sldId id="486" r:id="rId7"/>
    <p:sldId id="420" r:id="rId8"/>
    <p:sldId id="421" r:id="rId9"/>
    <p:sldId id="424" r:id="rId10"/>
    <p:sldId id="422" r:id="rId11"/>
    <p:sldId id="291" r:id="rId12"/>
    <p:sldId id="308" r:id="rId13"/>
    <p:sldId id="487" r:id="rId14"/>
    <p:sldId id="488" r:id="rId15"/>
    <p:sldId id="489" r:id="rId16"/>
    <p:sldId id="490" r:id="rId17"/>
    <p:sldId id="309" r:id="rId18"/>
    <p:sldId id="491" r:id="rId19"/>
    <p:sldId id="493" r:id="rId20"/>
    <p:sldId id="494" r:id="rId21"/>
    <p:sldId id="495" r:id="rId22"/>
    <p:sldId id="496" r:id="rId23"/>
    <p:sldId id="310" r:id="rId24"/>
    <p:sldId id="498" r:id="rId25"/>
    <p:sldId id="499" r:id="rId26"/>
    <p:sldId id="500" r:id="rId27"/>
    <p:sldId id="497" r:id="rId28"/>
    <p:sldId id="257" r:id="rId29"/>
    <p:sldId id="305" r:id="rId30"/>
    <p:sldId id="49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87"/>
    <p:restoredTop sz="94660"/>
  </p:normalViewPr>
  <p:slideViewPr>
    <p:cSldViewPr snapToGrid="0">
      <p:cViewPr>
        <p:scale>
          <a:sx n="95" d="100"/>
          <a:sy n="95" d="100"/>
        </p:scale>
        <p:origin x="53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B1D7-6CE8-1CC2-036E-84AA2AA3A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C7AB5-A82B-74E3-451D-990B76B29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5609F-0AFF-E0F6-7552-82DA88C8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3224E-FA31-AB8C-8947-074CF6B87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DBCD4-2872-FB0D-846C-DE10502D3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3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4B59-20E4-3F90-156B-79C86FE16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F3CD-4EE2-BDDD-3CCC-EB4E2DCB3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56DBC-A78E-111F-5EC2-DC464933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94C6E-3584-1B51-4B85-E61733AB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06255-41D6-8BD8-E8F9-4F6A09E59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1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5A0F-620D-1157-FFF4-95429D23D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CC0D1-293A-5E05-6CF0-0339A7D1E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C2467-9F4B-AB78-9FA7-325154F57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8F405-85BB-63E5-9E05-48E2378F1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1D88F-73CB-701B-9276-63D2077B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49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EDAB-057C-F7BE-9940-1B4348E3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663C7-EC5C-6D84-65E1-874BC810D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DA09-C379-90FE-A469-FF02716F1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DC1737-3E28-7294-CB0F-8109AD617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7E261E-F6D4-FDC6-5D8E-AFCDA4C3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E592F-2ECD-65A3-AE3B-026465B0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25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446EF-CB0E-0C74-4AA2-449BD528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55C6-24B5-532F-1808-5D4817C0F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B6CD2-A206-39C6-E2DC-FA0459936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E37A8-67CC-06E6-09B1-091A7ADAE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F6995-4884-A234-68C1-6F839D100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20358-538C-3605-F4CC-7C2D97BCA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0BFE52-DE9A-48CF-24A1-3580DE1CE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2F2D8D-3674-2FA6-1F95-73396E34B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92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4846-AF82-7135-823B-0FF4859FA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11DA6-9A01-3577-1E1D-8C97C961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ACEF4B-877A-656F-DD16-B3DAE9120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0CF87-BE7A-5E93-9ABD-09064493D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4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278296-0F3E-43F5-1DD1-2BA39DE26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A64B0-D27F-A6E7-855C-23007BF6B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F3F23-A6D7-9CA0-4CEE-334205AD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574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613B7-924D-4B49-EFF2-19EB40984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4E1AC-236E-2402-D0DA-FD7514243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CECAF-59C5-B70C-EA2D-3B01743A8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68C59C-B622-B805-8EF7-3DFE5F61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430B8-BF80-187A-3729-B91B2F82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0C5C5-A25A-1E33-5949-3C108222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7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57DA-E2A0-2FD4-8E65-B9B8AA1BA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75D088-5F5E-9A52-DCD8-90A72066FC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465B2-F169-EB05-B1BC-96FA8BC84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DC3FB-48A7-E7DB-1718-D08A16058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31D59-4F5C-D9C5-DB97-5F8ACB22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68ACB-4661-7674-942D-453FE857D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17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82C1-E7B7-1885-D70A-D1B70E56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0F1634-D54F-9142-B3C0-D9E06B296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C2D9-5EBE-8758-9D7E-5E947308B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5B23F-73DE-E5A4-497D-02DCE836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CEC46-9F53-5C40-5664-1289F4824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010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CE6F1A-DAEF-A184-3F10-C4108E16A8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80BFB-DB46-E21B-1053-43844F7B9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1F7FD-70ED-2A5E-6AD6-86C3425E1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9D509-003D-A77C-E2E1-F2D0071AF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43223-30EA-88AC-752C-E69FA0E93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69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5244B7-ADE3-2D82-FB38-1653C5E20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CF914-9AD8-A65B-5F0D-396460312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E20EF-1742-7A78-0282-66035EEE4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F294A-596A-B6E4-623B-0D8197CB7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FFEBF-F97B-DD26-ABF1-91711C0FC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65914-FCE6-BD75-96EB-D7F67A8EE5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Optimal photosynthetic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A797B-9B94-1843-F0C8-2B61AF66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Texas Tech University</a:t>
            </a:r>
          </a:p>
          <a:p>
            <a:r>
              <a:rPr lang="en-US" dirty="0" err="1"/>
              <a:t>nick.smith@ttu.edu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198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6E519-EBE0-E18E-942A-F0D040DE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137A1-6F4C-603B-D5F9-02E085DCB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/>
              <a:t>Global optimal photosynthetic traits</a:t>
            </a:r>
          </a:p>
          <a:p>
            <a:r>
              <a:rPr lang="en-US" sz="4400" dirty="0"/>
              <a:t>Site-level trait variability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234056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709-2F8C-B9CB-2062-96B5E23BE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2B2D9-7B19-3245-AC2B-7A555742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164E8-FE1B-A86B-AEF9-8F2E0D69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1601413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1B62A-C9B4-4A8D-9F7C-67F1C044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Eco-evolutionary optimality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DF3F7-3B03-4704-B6ED-F46CFD402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 “EEO invokes the power of natural selection to eliminate uncompetitive trait combinations, and thereby shape predictable, general patterns in vegetation”</a:t>
            </a:r>
          </a:p>
        </p:txBody>
      </p:sp>
      <p:pic>
        <p:nvPicPr>
          <p:cNvPr id="4" name="Picture 3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FB9414E6-FB36-4172-15F1-48A4ADC72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854" y="3863711"/>
            <a:ext cx="8234291" cy="2791089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16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47F62-C540-4B11-CA17-53964EA4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optimization: least 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6E0C2-9276-EF2E-4F42-00D161341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>
                <a:solidFill>
                  <a:srgbClr val="011893"/>
                </a:solidFill>
              </a:rPr>
              <a:t>Optimally, plants will maintain fastest rate of photosynthesis at the lowest summed resource cost (water and nutrient use)</a:t>
            </a:r>
          </a:p>
        </p:txBody>
      </p:sp>
    </p:spTree>
    <p:extLst>
      <p:ext uri="{BB962C8B-B14F-4D97-AF65-F5344CB8AC3E}">
        <p14:creationId xmlns:p14="http://schemas.microsoft.com/office/powerpoint/2010/main" val="191338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5269-8B2C-B845-B4E6-10EDE8B6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Optimal trait example</a:t>
            </a:r>
            <a:br>
              <a:rPr lang="en-US" dirty="0"/>
            </a:br>
            <a:r>
              <a:rPr lang="en-US" dirty="0"/>
              <a:t>The maximum rate of Rubisco carboxylation (</a:t>
            </a:r>
            <a:r>
              <a:rPr lang="en-US" i="1" dirty="0" err="1">
                <a:solidFill>
                  <a:srgbClr val="011893"/>
                </a:solidFill>
              </a:rPr>
              <a:t>V</a:t>
            </a:r>
            <a:r>
              <a:rPr lang="en-US" baseline="-25000" dirty="0" err="1">
                <a:solidFill>
                  <a:srgbClr val="011893"/>
                </a:solidFill>
              </a:rPr>
              <a:t>cmax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302AC-BCAE-5743-98C7-B877F4D1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876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increases with light because of greater electron transport</a:t>
            </a:r>
            <a:endParaRPr lang="en-US" sz="3600" dirty="0">
              <a:solidFill>
                <a:srgbClr val="01189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9A7696-BB68-0144-BB52-D3C03FD0676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899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increases with temperature because of greater electron transport and photorespiration</a:t>
            </a:r>
            <a:endParaRPr lang="en-US" sz="3600" dirty="0">
              <a:solidFill>
                <a:srgbClr val="01189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683761-BAA1-0243-8062-791C68C9458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85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decreases with CO</a:t>
            </a:r>
            <a:r>
              <a:rPr lang="en-US" sz="3600" baseline="-25000" dirty="0">
                <a:solidFill>
                  <a:srgbClr val="011893"/>
                </a:solidFill>
                <a:cs typeface="Calibri" panose="020F0502020204030204" pitchFamily="34" charset="0"/>
              </a:rPr>
              <a:t>2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because of greater CO</a:t>
            </a:r>
            <a:r>
              <a:rPr lang="en-US" sz="3600" baseline="-25000" dirty="0">
                <a:solidFill>
                  <a:srgbClr val="011893"/>
                </a:solidFill>
                <a:cs typeface="Calibri" panose="020F0502020204030204" pitchFamily="34" charset="0"/>
              </a:rPr>
              <a:t>2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in the leaf and less photorespiration</a:t>
            </a:r>
            <a:endParaRPr lang="en-US" sz="3600" baseline="-25000" dirty="0">
              <a:solidFill>
                <a:srgbClr val="01189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CD000D-7129-C04B-9A80-405EA91903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4207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633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decreases with soil N limitation because Rubisco requires a lot of N</a:t>
            </a:r>
            <a:endParaRPr lang="en-US" sz="3600" dirty="0">
              <a:solidFill>
                <a:srgbClr val="01189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43DA74-592A-834D-B8D0-3CAE888456F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904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FF4907-D727-8F41-B448-D51133943C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73398" y="2129421"/>
            <a:ext cx="8591415" cy="4218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C11B8A2-771B-DE48-B3AA-074713D6ED9A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37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1BE3-FE34-87E6-51B3-E232866E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5DF74-4255-08E0-F02B-2AF6D26D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111C-DC7E-F024-8B36-4ADF8BF7E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/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713124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2147-DE6B-33CC-3558-A970C55C4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ADDB-0D51-337F-D376-046852AC55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Develop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globally gridded climate to simulate traits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PCA to explore trait relationships and clustering</a:t>
            </a:r>
          </a:p>
          <a:p>
            <a:pPr lvl="1"/>
            <a:r>
              <a:rPr lang="en-US" dirty="0"/>
              <a:t>Carbon uptake (A</a:t>
            </a:r>
            <a:r>
              <a:rPr lang="en-US" baseline="-25000" dirty="0"/>
              <a:t>net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Carbon loss (R</a:t>
            </a:r>
            <a:r>
              <a:rPr lang="en-US" baseline="-25000" dirty="0"/>
              <a:t>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Water use for photosynthesis (</a:t>
            </a:r>
            <a:r>
              <a:rPr lang="en-US" dirty="0" err="1"/>
              <a:t>g</a:t>
            </a:r>
            <a:r>
              <a:rPr lang="en-US" baseline="-25000" dirty="0" err="1"/>
              <a:t>sw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Nitrogen use for photosynthesis (</a:t>
            </a:r>
            <a:r>
              <a:rPr lang="en-US" dirty="0" err="1"/>
              <a:t>N</a:t>
            </a:r>
            <a:r>
              <a:rPr lang="en-US" baseline="-25000" dirty="0" err="1"/>
              <a:t>photo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Leaf economics (LMA)</a:t>
            </a:r>
          </a:p>
          <a:p>
            <a:pPr lvl="1"/>
            <a:r>
              <a:rPr lang="en-US" dirty="0"/>
              <a:t>Least-cost theory (</a:t>
            </a:r>
            <a:r>
              <a:rPr lang="el-GR" dirty="0"/>
              <a:t>χ)</a:t>
            </a:r>
            <a:endParaRPr lang="en-US" dirty="0"/>
          </a:p>
          <a:p>
            <a:pPr lvl="1"/>
            <a:r>
              <a:rPr lang="en-US" dirty="0"/>
              <a:t>Photosynthetic efficiency (</a:t>
            </a:r>
            <a:r>
              <a:rPr lang="en-US" dirty="0" err="1"/>
              <a:t>iWUE</a:t>
            </a:r>
            <a:r>
              <a:rPr lang="en-US" dirty="0"/>
              <a:t>, PNUE)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006D76-56E5-FB66-69CF-D1B0A6368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923DB8-E727-619A-8C6F-C120072B5B86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354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D88F3-693B-8268-2439-F2C348E0B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BC9A44-4EE0-B445-CE7E-6C48249AE2F7}"/>
              </a:ext>
            </a:extLst>
          </p:cNvPr>
          <p:cNvSpPr txBox="1"/>
          <p:nvPr/>
        </p:nvSpPr>
        <p:spPr>
          <a:xfrm>
            <a:off x="7200900" y="1549400"/>
            <a:ext cx="4457246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PC1: C</a:t>
            </a:r>
            <a:r>
              <a:rPr lang="en-US" sz="4000" baseline="-25000" dirty="0"/>
              <a:t>3</a:t>
            </a:r>
            <a:r>
              <a:rPr lang="en-US" sz="4000" dirty="0"/>
              <a:t>-C</a:t>
            </a:r>
            <a:r>
              <a:rPr lang="en-US" sz="4000" baseline="-25000" dirty="0"/>
              <a:t>4</a:t>
            </a:r>
            <a:r>
              <a:rPr lang="en-US" sz="4000" dirty="0"/>
              <a:t> divide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/>
              <a:t>N use, WUE</a:t>
            </a:r>
          </a:p>
          <a:p>
            <a:endParaRPr lang="en-US" sz="4000" dirty="0"/>
          </a:p>
          <a:p>
            <a:r>
              <a:rPr lang="en-US" sz="4000" dirty="0"/>
              <a:t>PC2: wet-dry divide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/>
              <a:t>PNUE, </a:t>
            </a:r>
            <a:r>
              <a:rPr lang="en-US" sz="4000" dirty="0" err="1"/>
              <a:t>g</a:t>
            </a:r>
            <a:r>
              <a:rPr lang="en-US" sz="4000" baseline="-25000" dirty="0" err="1"/>
              <a:t>sw</a:t>
            </a:r>
            <a:r>
              <a:rPr lang="en-US" sz="4000" dirty="0"/>
              <a:t>, A</a:t>
            </a:r>
            <a:r>
              <a:rPr lang="en-US" sz="4000" baseline="-25000" dirty="0"/>
              <a:t>net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469356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C8328D-78D3-81D2-D125-19BB0F65C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B29DDD-B6C1-702C-8819-04B94BEAF8F6}"/>
              </a:ext>
            </a:extLst>
          </p:cNvPr>
          <p:cNvSpPr txBox="1"/>
          <p:nvPr/>
        </p:nvSpPr>
        <p:spPr>
          <a:xfrm>
            <a:off x="7200900" y="1549400"/>
            <a:ext cx="401725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PC3: tissue costs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/>
              <a:t>LMA, R</a:t>
            </a:r>
            <a:r>
              <a:rPr lang="en-US" sz="4000" baseline="-25000" dirty="0"/>
              <a:t>d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73432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375656-82E1-56BA-829D-EEDE7C15F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492526"/>
              </p:ext>
            </p:extLst>
          </p:nvPr>
        </p:nvGraphicFramePr>
        <p:xfrm>
          <a:off x="209550" y="467334"/>
          <a:ext cx="11132518" cy="4742739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2445512">
                  <a:extLst>
                    <a:ext uri="{9D8B030D-6E8A-4147-A177-3AD203B41FA5}">
                      <a16:colId xmlns:a16="http://schemas.microsoft.com/office/drawing/2014/main" val="704014200"/>
                    </a:ext>
                  </a:extLst>
                </a:gridCol>
                <a:gridCol w="2644973">
                  <a:extLst>
                    <a:ext uri="{9D8B030D-6E8A-4147-A177-3AD203B41FA5}">
                      <a16:colId xmlns:a16="http://schemas.microsoft.com/office/drawing/2014/main" val="1689549597"/>
                    </a:ext>
                  </a:extLst>
                </a:gridCol>
                <a:gridCol w="2644973">
                  <a:extLst>
                    <a:ext uri="{9D8B030D-6E8A-4147-A177-3AD203B41FA5}">
                      <a16:colId xmlns:a16="http://schemas.microsoft.com/office/drawing/2014/main" val="3976667090"/>
                    </a:ext>
                  </a:extLst>
                </a:gridCol>
                <a:gridCol w="3397060">
                  <a:extLst>
                    <a:ext uri="{9D8B030D-6E8A-4147-A177-3AD203B41FA5}">
                      <a16:colId xmlns:a16="http://schemas.microsoft.com/office/drawing/2014/main" val="207383204"/>
                    </a:ext>
                  </a:extLst>
                </a:gridCol>
              </a:tblGrid>
              <a:tr h="639415">
                <a:tc>
                  <a:txBody>
                    <a:bodyPr/>
                    <a:lstStyle/>
                    <a:p>
                      <a:pPr marL="0" marR="0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 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PC1 (C</a:t>
                      </a:r>
                      <a:r>
                        <a:rPr lang="en-US" sz="3200" kern="100" baseline="-25000" dirty="0">
                          <a:effectLst/>
                        </a:rPr>
                        <a:t>3</a:t>
                      </a:r>
                      <a:r>
                        <a:rPr lang="en-US" sz="3200" kern="100" dirty="0">
                          <a:effectLst/>
                        </a:rPr>
                        <a:t>-C</a:t>
                      </a:r>
                      <a:r>
                        <a:rPr lang="en-US" sz="3200" kern="100" baseline="-25000" dirty="0">
                          <a:effectLst/>
                        </a:rPr>
                        <a:t>4</a:t>
                      </a:r>
                      <a:r>
                        <a:rPr lang="en-US" sz="3200" kern="100" dirty="0">
                          <a:effectLst/>
                        </a:rPr>
                        <a:t>)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PC2 (aridity)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PC3 (tissue costs)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611060"/>
                  </a:ext>
                </a:extLst>
              </a:tr>
              <a:tr h="1381811">
                <a:tc>
                  <a:txBody>
                    <a:bodyPr/>
                    <a:lstStyle/>
                    <a:p>
                      <a:pPr marL="0" marR="0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>
                          <a:effectLst/>
                        </a:rPr>
                        <a:t>PFT</a:t>
                      </a:r>
                      <a:endParaRPr lang="en-US" sz="3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b="1" kern="100" dirty="0">
                          <a:effectLst/>
                        </a:rPr>
                        <a:t>0.71</a:t>
                      </a:r>
                      <a:endParaRPr lang="en-US" sz="3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0.21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0.07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55564272"/>
                  </a:ext>
                </a:extLst>
              </a:tr>
              <a:tr h="639543">
                <a:tc>
                  <a:txBody>
                    <a:bodyPr/>
                    <a:lstStyle/>
                    <a:p>
                      <a:pPr marL="0" marR="0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T</a:t>
                      </a:r>
                      <a:r>
                        <a:rPr lang="en-US" sz="3200" kern="100" baseline="0" dirty="0">
                          <a:effectLst/>
                        </a:rPr>
                        <a:t>emperature</a:t>
                      </a:r>
                      <a:endParaRPr lang="en-US" sz="3200" kern="100" baseline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>
                          <a:effectLst/>
                        </a:rPr>
                        <a:t>0.24</a:t>
                      </a:r>
                      <a:endParaRPr lang="en-US" sz="3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b="1" kern="100" dirty="0">
                          <a:effectLst/>
                        </a:rPr>
                        <a:t>0.52</a:t>
                      </a:r>
                      <a:endParaRPr lang="en-US" sz="3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>
                          <a:effectLst/>
                        </a:rPr>
                        <a:t>0.08</a:t>
                      </a:r>
                      <a:endParaRPr lang="en-US" sz="3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2458436"/>
                  </a:ext>
                </a:extLst>
              </a:tr>
              <a:tr h="639543">
                <a:tc>
                  <a:txBody>
                    <a:bodyPr/>
                    <a:lstStyle/>
                    <a:p>
                      <a:pPr marL="0" marR="0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Light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>
                          <a:effectLst/>
                        </a:rPr>
                        <a:t>0.01</a:t>
                      </a:r>
                      <a:endParaRPr lang="en-US" sz="3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0.10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b="1" kern="100" dirty="0">
                          <a:effectLst/>
                        </a:rPr>
                        <a:t>0.49</a:t>
                      </a:r>
                      <a:endParaRPr lang="en-US" sz="3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737605554"/>
                  </a:ext>
                </a:extLst>
              </a:tr>
              <a:tr h="639543">
                <a:tc>
                  <a:txBody>
                    <a:bodyPr/>
                    <a:lstStyle/>
                    <a:p>
                      <a:pPr marL="0" marR="0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VPD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>
                          <a:effectLst/>
                        </a:rPr>
                        <a:t>0.02</a:t>
                      </a:r>
                      <a:endParaRPr lang="en-US" sz="3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>
                          <a:effectLst/>
                        </a:rPr>
                        <a:t>0.13</a:t>
                      </a:r>
                      <a:endParaRPr lang="en-US" sz="3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200000"/>
                        </a:lnSpc>
                        <a:buNone/>
                      </a:pPr>
                      <a:r>
                        <a:rPr lang="en-US" sz="3200" kern="100" dirty="0">
                          <a:effectLst/>
                        </a:rPr>
                        <a:t>0.15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 (Body CS)"/>
                      </a:endParaRPr>
                    </a:p>
                  </a:txBody>
                  <a:tcPr marL="68580" marR="68580" marT="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2049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6715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4C03-3E0F-39E0-0066-40F44637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5DF41-119F-EA3A-10C4-66C9D6BD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4CF93-2D22-6701-03E8-49B19E082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/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4235730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003D-57A8-BB60-A24B-22D9C34A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DE995-6FAA-2283-CAD7-821AB6FD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Choose sites representing different dominant PFTs</a:t>
            </a:r>
          </a:p>
          <a:p>
            <a:pPr lvl="1"/>
            <a:r>
              <a:rPr lang="en-US" dirty="0"/>
              <a:t>Deciduous trees, evergreen trees, mixed forests, C</a:t>
            </a:r>
            <a:r>
              <a:rPr lang="en-US" baseline="-25000" dirty="0"/>
              <a:t>4</a:t>
            </a:r>
            <a:r>
              <a:rPr lang="en-US" dirty="0"/>
              <a:t> grasses</a:t>
            </a:r>
          </a:p>
          <a:p>
            <a:r>
              <a:rPr lang="en-US" dirty="0"/>
              <a:t>Simulate optimal traits 10,000x using climate distribution (mean +/- 0.1*mean)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177370EA-D795-D425-52DD-FDE519F7A5C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271811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F225C3BD-C5AE-59D5-02AD-9A4E392AAC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FDEAF8-25FF-4A51-60E3-D81179A78940}"/>
              </a:ext>
            </a:extLst>
          </p:cNvPr>
          <p:cNvSpPr txBox="1"/>
          <p:nvPr/>
        </p:nvSpPr>
        <p:spPr>
          <a:xfrm>
            <a:off x="7200900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  <a:p>
            <a:endParaRPr lang="en-US" sz="4000" dirty="0"/>
          </a:p>
          <a:p>
            <a:r>
              <a:rPr lang="en-US" sz="4000" dirty="0"/>
              <a:t>A lot of within-site variability</a:t>
            </a:r>
          </a:p>
        </p:txBody>
      </p:sp>
    </p:spTree>
    <p:extLst>
      <p:ext uri="{BB962C8B-B14F-4D97-AF65-F5344CB8AC3E}">
        <p14:creationId xmlns:p14="http://schemas.microsoft.com/office/powerpoint/2010/main" val="6681700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15B3C3DD-40B2-FDCC-40EC-D060A05570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16BC8A-39EF-695E-037D-D8565E08A0B2}"/>
              </a:ext>
            </a:extLst>
          </p:cNvPr>
          <p:cNvSpPr/>
          <p:nvPr/>
        </p:nvSpPr>
        <p:spPr>
          <a:xfrm>
            <a:off x="6096000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58045E-53AE-15F7-62E0-05300ECA5ED7}"/>
              </a:ext>
            </a:extLst>
          </p:cNvPr>
          <p:cNvSpPr/>
          <p:nvPr/>
        </p:nvSpPr>
        <p:spPr>
          <a:xfrm>
            <a:off x="8780929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102756-5C22-522B-C860-8CD56384647B}"/>
              </a:ext>
            </a:extLst>
          </p:cNvPr>
          <p:cNvSpPr/>
          <p:nvPr/>
        </p:nvSpPr>
        <p:spPr>
          <a:xfrm>
            <a:off x="322730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9C39B-7DD7-312D-CFAB-7211E999CB2D}"/>
              </a:ext>
            </a:extLst>
          </p:cNvPr>
          <p:cNvSpPr/>
          <p:nvPr/>
        </p:nvSpPr>
        <p:spPr>
          <a:xfrm>
            <a:off x="3209365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F6D433-A2F0-EC97-034E-36E405959F50}"/>
              </a:ext>
            </a:extLst>
          </p:cNvPr>
          <p:cNvSpPr txBox="1"/>
          <p:nvPr/>
        </p:nvSpPr>
        <p:spPr>
          <a:xfrm>
            <a:off x="524435" y="3724835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Within-site variability is larger than across-site for many traits</a:t>
            </a:r>
          </a:p>
        </p:txBody>
      </p:sp>
    </p:spTree>
    <p:extLst>
      <p:ext uri="{BB962C8B-B14F-4D97-AF65-F5344CB8AC3E}">
        <p14:creationId xmlns:p14="http://schemas.microsoft.com/office/powerpoint/2010/main" val="22201916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C64F9-760F-C793-7FD9-F70C1E23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E27C3E3B-58D8-0B22-BDEB-BD23609869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681A39-533A-0347-CC1B-ADCE00D0DA07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9F0049-961D-78D7-1B3C-F655B9B2088D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D7BCEC-6604-B7D3-67A0-BE920CF4EC3F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672506-791E-B9CE-8524-D7C03240F409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AA036-5861-DBE7-5BF9-537AFB698D4D}"/>
              </a:ext>
            </a:extLst>
          </p:cNvPr>
          <p:cNvSpPr/>
          <p:nvPr/>
        </p:nvSpPr>
        <p:spPr>
          <a:xfrm>
            <a:off x="8780928" y="332883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60A23F-B568-C7BE-2F35-57DFF5804C71}"/>
              </a:ext>
            </a:extLst>
          </p:cNvPr>
          <p:cNvSpPr txBox="1"/>
          <p:nvPr/>
        </p:nvSpPr>
        <p:spPr>
          <a:xfrm>
            <a:off x="524435" y="951637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Some traits show separation by photosynthetic type</a:t>
            </a:r>
          </a:p>
        </p:txBody>
      </p:sp>
    </p:spTree>
    <p:extLst>
      <p:ext uri="{BB962C8B-B14F-4D97-AF65-F5344CB8AC3E}">
        <p14:creationId xmlns:p14="http://schemas.microsoft.com/office/powerpoint/2010/main" val="21837519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E9CD-EC7C-3230-FFAC-88EA99E66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69FFDC74-D085-AD5D-6E42-869AACE3FE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54CD71-1516-BB3B-6AB2-4E7A1A9C2309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3523A8-E176-1F0B-7256-3B716D18BFCF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BBADE-C366-28C4-3D27-264C3D6DC85A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B789D4-051B-4ED0-250B-86479FCDDD60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2E994-5ED6-FD1F-BDB8-FCC192263B0E}"/>
              </a:ext>
            </a:extLst>
          </p:cNvPr>
          <p:cNvSpPr/>
          <p:nvPr/>
        </p:nvSpPr>
        <p:spPr>
          <a:xfrm>
            <a:off x="3209364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3578E-BF62-C28C-0260-1A49627D70AD}"/>
              </a:ext>
            </a:extLst>
          </p:cNvPr>
          <p:cNvSpPr/>
          <p:nvPr/>
        </p:nvSpPr>
        <p:spPr>
          <a:xfrm>
            <a:off x="5995146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BFD0D-609C-8220-2FD6-DD33815A403F}"/>
              </a:ext>
            </a:extLst>
          </p:cNvPr>
          <p:cNvSpPr/>
          <p:nvPr/>
        </p:nvSpPr>
        <p:spPr>
          <a:xfrm>
            <a:off x="524435" y="3228673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185E8A-48A8-99A6-5E1C-2560E11EA9A9}"/>
              </a:ext>
            </a:extLst>
          </p:cNvPr>
          <p:cNvSpPr txBox="1"/>
          <p:nvPr/>
        </p:nvSpPr>
        <p:spPr>
          <a:xfrm>
            <a:off x="524435" y="951637"/>
            <a:ext cx="5571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LMA shows separation by PFT</a:t>
            </a:r>
          </a:p>
        </p:txBody>
      </p:sp>
    </p:spTree>
    <p:extLst>
      <p:ext uri="{BB962C8B-B14F-4D97-AF65-F5344CB8AC3E}">
        <p14:creationId xmlns:p14="http://schemas.microsoft.com/office/powerpoint/2010/main" val="239070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B8B8-C037-F4A1-D289-E6A18726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810A-31E0-ACFF-6F89-1F1CD766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498B-26F0-433D-577B-2B52ABDFA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4965076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AE868-ACA8-2403-3CAD-7188FD34E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C6D05-5245-B16E-2D33-7809E2387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E896-EF4E-CDC1-439F-B17825AF0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</p:txBody>
      </p:sp>
    </p:spTree>
    <p:extLst>
      <p:ext uri="{BB962C8B-B14F-4D97-AF65-F5344CB8AC3E}">
        <p14:creationId xmlns:p14="http://schemas.microsoft.com/office/powerpoint/2010/main" val="3847928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6A9B9-3FCA-BF79-C7E1-B45DD941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91299-7FD1-18FC-27D1-E5E992C60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93904-B131-B70B-63FB-615C33924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  <a:p>
            <a:r>
              <a:rPr lang="en-US" dirty="0"/>
              <a:t>The three defining axes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(C</a:t>
            </a:r>
            <a:r>
              <a:rPr lang="en-US" baseline="-25000" dirty="0"/>
              <a:t>3</a:t>
            </a:r>
            <a:r>
              <a:rPr lang="en-US" dirty="0"/>
              <a:t>-C</a:t>
            </a:r>
            <a:r>
              <a:rPr lang="en-US" baseline="-25000" dirty="0"/>
              <a:t>4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(aridity)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Tissue costs of photosynthesis</a:t>
            </a:r>
          </a:p>
        </p:txBody>
      </p:sp>
    </p:spTree>
    <p:extLst>
      <p:ext uri="{BB962C8B-B14F-4D97-AF65-F5344CB8AC3E}">
        <p14:creationId xmlns:p14="http://schemas.microsoft.com/office/powerpoint/2010/main" val="27192565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9AA1C-AAF9-0E1B-A304-CDF750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5286D-FBDD-459B-9572-E42512AE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2233-EBAF-000F-33DD-8FB98B28A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  <a:p>
            <a:r>
              <a:rPr lang="en-US" dirty="0"/>
              <a:t>The three defining axes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(C</a:t>
            </a:r>
            <a:r>
              <a:rPr lang="en-US" baseline="-25000" dirty="0"/>
              <a:t>3</a:t>
            </a:r>
            <a:r>
              <a:rPr lang="en-US" dirty="0"/>
              <a:t>-C</a:t>
            </a:r>
            <a:r>
              <a:rPr lang="en-US" baseline="-25000" dirty="0"/>
              <a:t>4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(aridity)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Tissue costs of photosynthesis</a:t>
            </a:r>
          </a:p>
          <a:p>
            <a:r>
              <a:rPr lang="en-US" dirty="0"/>
              <a:t>Plant type dictates optimal photosynthetic strategies via some, but not all traits</a:t>
            </a:r>
          </a:p>
        </p:txBody>
      </p:sp>
    </p:spTree>
    <p:extLst>
      <p:ext uri="{BB962C8B-B14F-4D97-AF65-F5344CB8AC3E}">
        <p14:creationId xmlns:p14="http://schemas.microsoft.com/office/powerpoint/2010/main" val="12267072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9B914-21C9-E8B7-71F0-4FF4E1157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5207B-D363-66F4-FE10-0A4C9455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  <a:p>
            <a:r>
              <a:rPr lang="en-US" dirty="0"/>
              <a:t>The three defining axes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(C</a:t>
            </a:r>
            <a:r>
              <a:rPr lang="en-US" baseline="-25000" dirty="0"/>
              <a:t>3</a:t>
            </a:r>
            <a:r>
              <a:rPr lang="en-US" dirty="0"/>
              <a:t>-C</a:t>
            </a:r>
            <a:r>
              <a:rPr lang="en-US" baseline="-25000" dirty="0"/>
              <a:t>4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(aridity)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Tissue costs of photosynthesis</a:t>
            </a:r>
          </a:p>
          <a:p>
            <a:r>
              <a:rPr lang="en-US" dirty="0"/>
              <a:t>Plant type dictates optimal photosynthetic strategies via some, but not all traits</a:t>
            </a:r>
          </a:p>
          <a:p>
            <a:r>
              <a:rPr lang="en-US" dirty="0"/>
              <a:t>There are many optimal strategies within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98347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B0E9E-A414-0D1C-D3BE-36F33166A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12EE7-956B-4695-7EED-4D9FF9554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Lab is moving to the University of Nebraska - Lincoln</a:t>
            </a:r>
          </a:p>
          <a:p>
            <a:r>
              <a:rPr lang="en-US" dirty="0"/>
              <a:t>Starting Fall 2026</a:t>
            </a:r>
          </a:p>
          <a:p>
            <a:r>
              <a:rPr lang="en-US" dirty="0"/>
              <a:t>Reach out if you are interested in collaborating</a:t>
            </a:r>
          </a:p>
        </p:txBody>
      </p:sp>
      <p:pic>
        <p:nvPicPr>
          <p:cNvPr id="4" name="Picture 3" descr="Our Marks | Brand Guide | University Communication &amp; Marketing | Nebraska">
            <a:extLst>
              <a:ext uri="{FF2B5EF4-FFF2-40B4-BE49-F238E27FC236}">
                <a16:creationId xmlns:a16="http://schemas.microsoft.com/office/drawing/2014/main" id="{4BBDA1AA-B11C-07AA-7F25-FFDCEFD8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027906"/>
            <a:ext cx="4572000" cy="2971800"/>
          </a:xfrm>
          <a:prstGeom prst="rect">
            <a:avLst/>
          </a:prstGeom>
        </p:spPr>
      </p:pic>
      <p:pic>
        <p:nvPicPr>
          <p:cNvPr id="5" name="Picture 4" descr="Site Info for US-Ne1- AmeriFlux">
            <a:extLst>
              <a:ext uri="{FF2B5EF4-FFF2-40B4-BE49-F238E27FC236}">
                <a16:creationId xmlns:a16="http://schemas.microsoft.com/office/drawing/2014/main" id="{3A14672B-A873-593A-B7EB-D2B8A91CE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4489021"/>
            <a:ext cx="2857500" cy="190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9069B8-8EBE-41D0-D494-31648D4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129" y="4489021"/>
            <a:ext cx="2145441" cy="21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69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1004" y="19484"/>
            <a:ext cx="9630770" cy="6838516"/>
          </a:xfrm>
          <a:prstGeom prst="rect">
            <a:avLst/>
          </a:prstGeom>
        </p:spPr>
      </p:pic>
      <p:sp>
        <p:nvSpPr>
          <p:cNvPr id="4" name="Oval Callout 3"/>
          <p:cNvSpPr/>
          <p:nvPr/>
        </p:nvSpPr>
        <p:spPr>
          <a:xfrm>
            <a:off x="7812741" y="2286000"/>
            <a:ext cx="2070847" cy="1452282"/>
          </a:xfrm>
          <a:prstGeom prst="wedgeEllipseCallout">
            <a:avLst>
              <a:gd name="adj1" fmla="val -76028"/>
              <a:gd name="adj2" fmla="val 84722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</a:rPr>
              <a:t>Thanks!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F0BB1-5183-D24C-9A32-AECF3E7CDD10}"/>
              </a:ext>
            </a:extLst>
          </p:cNvPr>
          <p:cNvSpPr txBox="1"/>
          <p:nvPr/>
        </p:nvSpPr>
        <p:spPr>
          <a:xfrm>
            <a:off x="1201004" y="19484"/>
            <a:ext cx="9591857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Presentation: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/egu_2026</a:t>
            </a:r>
          </a:p>
          <a:p>
            <a:r>
              <a:rPr lang="en-US" sz="2800" dirty="0"/>
              <a:t>Model code: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</a:t>
            </a:r>
            <a:r>
              <a:rPr lang="en-US" sz="2800" dirty="0" err="1"/>
              <a:t>optimal_vcmax_r</a:t>
            </a:r>
            <a:endParaRPr lang="en-US" sz="2800" dirty="0"/>
          </a:p>
          <a:p>
            <a:r>
              <a:rPr lang="en-US" sz="2800" dirty="0"/>
              <a:t>Contact: nick.smith@ttu.edu, nsmith87@unl.edu</a:t>
            </a:r>
          </a:p>
        </p:txBody>
      </p:sp>
    </p:spTree>
    <p:extLst>
      <p:ext uri="{BB962C8B-B14F-4D97-AF65-F5344CB8AC3E}">
        <p14:creationId xmlns:p14="http://schemas.microsoft.com/office/powerpoint/2010/main" val="40666957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A1C4710E-D3A4-9810-4148-ABB6963AD9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109" y="766827"/>
            <a:ext cx="9688925" cy="521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446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1639</TotalTime>
  <Words>599</Words>
  <Application>Microsoft Macintosh PowerPoint</Application>
  <PresentationFormat>Widescreen</PresentationFormat>
  <Paragraphs>119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Times New Roman</vt:lpstr>
      <vt:lpstr>Office Theme</vt:lpstr>
      <vt:lpstr>Optimal photosynthetic strategies</vt:lpstr>
      <vt:lpstr>Outline</vt:lpstr>
      <vt:lpstr>Outline</vt:lpstr>
      <vt:lpstr>Eco-evolutionary optimality theory</vt:lpstr>
      <vt:lpstr>Photosynthesis optimization: least cost</vt:lpstr>
      <vt:lpstr>Optimal trait example The maximum rate of Rubisco carboxylation (Vcmax)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Global simulation strategy</vt:lpstr>
      <vt:lpstr>PowerPoint Presentation</vt:lpstr>
      <vt:lpstr>PowerPoint Presentation</vt:lpstr>
      <vt:lpstr>PowerPoint Presentation</vt:lpstr>
      <vt:lpstr>Outline</vt:lpstr>
      <vt:lpstr>Site-level simulation strategy</vt:lpstr>
      <vt:lpstr>PowerPoint Presentation</vt:lpstr>
      <vt:lpstr>PowerPoint Presentation</vt:lpstr>
      <vt:lpstr>PowerPoint Presentation</vt:lpstr>
      <vt:lpstr>PowerPoint Presentation</vt:lpstr>
      <vt:lpstr>Outline</vt:lpstr>
      <vt:lpstr>Implications</vt:lpstr>
      <vt:lpstr>Implications</vt:lpstr>
      <vt:lpstr>Implications</vt:lpstr>
      <vt:lpstr>Implications</vt:lpstr>
      <vt:lpstr>Quick notice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22</cp:revision>
  <dcterms:created xsi:type="dcterms:W3CDTF">2026-04-27T13:58:39Z</dcterms:created>
  <dcterms:modified xsi:type="dcterms:W3CDTF">2026-04-29T15:44:30Z</dcterms:modified>
</cp:coreProperties>
</file>